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Inconsolata" pitchFamily="49" charset="77"/>
      <p:regular r:id="rId7"/>
    </p:embeddedFont>
    <p:embeddedFont>
      <p:font typeface="Montserrat Black" panose="020F0502020204030204" pitchFamily="34" charset="0"/>
      <p:regular r:id="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49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5B9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TradeUp:</a:t>
            </a: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Your Risk-Free Stock Market Training Ground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Welcome to TradeUp, a cutting-edge stock trading simulation platform designed to empower aspiring traders. Gain hands-on experience and build confidence in a dynamic, risk-free environment.</a:t>
            </a:r>
            <a:endParaRPr lang="en-US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F24484A-F4BD-9597-87E3-8F917573EAF6}"/>
              </a:ext>
            </a:extLst>
          </p:cNvPr>
          <p:cNvSpPr/>
          <p:nvPr/>
        </p:nvSpPr>
        <p:spPr>
          <a:xfrm>
            <a:off x="793790" y="1034534"/>
            <a:ext cx="906423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A95B9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P04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726400"/>
            <a:ext cx="180284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6526" y="1095851"/>
            <a:ext cx="8223528" cy="45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Experiential Learning for Aspiring Traders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6526" y="1892737"/>
            <a:ext cx="9854327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TradeUp provides an immersive, real-time stock market simulation. We pull live data to mimic market movements, ensuring an authentic trading experience without the financial risk. Our goal is to provide a rich learning environment that enhances your trading skills and boosts your confidence.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>
              <a:lnSpc>
                <a:spcPts val="2250"/>
              </a:lnSpc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platform is designed to be your comprehensive companion throughout your stock trading learning journey.</a:t>
            </a:r>
            <a:endParaRPr lang="en-US" sz="2000" dirty="0"/>
          </a:p>
          <a:p>
            <a:pPr marL="0" indent="0" algn="l">
              <a:lnSpc>
                <a:spcPts val="2250"/>
              </a:lnSpc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6527" y="3242785"/>
            <a:ext cx="9281874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90183" y="1925122"/>
            <a:ext cx="324445" cy="324445"/>
          </a:xfrm>
          <a:prstGeom prst="roundRect">
            <a:avLst>
              <a:gd name="adj" fmla="val 281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178" y="1952089"/>
            <a:ext cx="216337" cy="2703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58813" y="1974652"/>
            <a:ext cx="180284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Risk-Free Trading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58813" y="2344103"/>
            <a:ext cx="2402562" cy="46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Practice without losing real money.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90183" y="3093720"/>
            <a:ext cx="324445" cy="324445"/>
          </a:xfrm>
          <a:prstGeom prst="roundRect">
            <a:avLst>
              <a:gd name="adj" fmla="val 281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178" y="3120688"/>
            <a:ext cx="216337" cy="270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58813" y="3143250"/>
            <a:ext cx="180284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Real-Time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58813" y="3512701"/>
            <a:ext cx="2402562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Simulate true market movements.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990183" y="4031694"/>
            <a:ext cx="324445" cy="324445"/>
          </a:xfrm>
          <a:prstGeom prst="roundRect">
            <a:avLst>
              <a:gd name="adj" fmla="val 281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4178" y="4058662"/>
            <a:ext cx="216337" cy="2703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58813" y="4081224"/>
            <a:ext cx="189226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Learning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458813" y="4450675"/>
            <a:ext cx="2402562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Improve skills and confidence.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6526" y="4879538"/>
            <a:ext cx="2884646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19" name="Shape 14"/>
          <p:cNvSpPr/>
          <p:nvPr/>
        </p:nvSpPr>
        <p:spPr>
          <a:xfrm>
            <a:off x="776526" y="5636657"/>
            <a:ext cx="6466523" cy="861179"/>
          </a:xfrm>
          <a:prstGeom prst="roundRect">
            <a:avLst>
              <a:gd name="adj" fmla="val 8494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761286" y="5636657"/>
            <a:ext cx="60960" cy="861179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81670" y="5796082"/>
            <a:ext cx="2285286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Trading Functions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81670" y="6107787"/>
            <a:ext cx="6101953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Buy/sell stocks, manage portfolios, track profit/loss.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87233" y="5636657"/>
            <a:ext cx="6466642" cy="861179"/>
          </a:xfrm>
          <a:prstGeom prst="roundRect">
            <a:avLst>
              <a:gd name="adj" fmla="val 8494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371993" y="5636657"/>
            <a:ext cx="60960" cy="861179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592378" y="5796082"/>
            <a:ext cx="264283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Community &amp; Engagement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592378" y="6107787"/>
            <a:ext cx="6102072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Leaderboards, topic-specific channels for interactive learning.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76526" y="6642021"/>
            <a:ext cx="6466523" cy="861179"/>
          </a:xfrm>
          <a:prstGeom prst="roundRect">
            <a:avLst>
              <a:gd name="adj" fmla="val 8494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61286" y="6642021"/>
            <a:ext cx="60960" cy="861179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981670" y="6801445"/>
            <a:ext cx="1991439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AI-Powered Insights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81670" y="7113151"/>
            <a:ext cx="6101953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 chatbot for real-time queries and news sentiment analysis for informed decisions.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387233" y="6642021"/>
            <a:ext cx="6466642" cy="861179"/>
          </a:xfrm>
          <a:prstGeom prst="roundRect">
            <a:avLst>
              <a:gd name="adj" fmla="val 8494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7371993" y="6642021"/>
            <a:ext cx="60960" cy="861179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7592378" y="6801445"/>
            <a:ext cx="180284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Advanced Tools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592378" y="7113151"/>
            <a:ext cx="6102072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Candlestick charts, personalized notifications, and educational content.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1387"/>
            <a:ext cx="220682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0218" y="1026200"/>
            <a:ext cx="8037671" cy="49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Who Uses TradeUp and 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90218" y="1915120"/>
            <a:ext cx="316087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Actors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790218" y="2468166"/>
            <a:ext cx="6332220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Stock Trading User: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 end-user learning and practicing trading.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0218" y="3155394"/>
            <a:ext cx="6332220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Admin: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Manages the platform and moderates the community.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15582" y="1915120"/>
            <a:ext cx="395466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Integrations (APIs)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515582" y="2468166"/>
            <a:ext cx="63322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Stock Market API: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For real-time market data simulation.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15582" y="2776180"/>
            <a:ext cx="63322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 API: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Powers the chatbot and sentiment analysis.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15582" y="3084195"/>
            <a:ext cx="63322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News API: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Feeds real-time news for sentiment analysis.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15582" y="3392210"/>
            <a:ext cx="63322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Notification Service: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Delivers personalized alerts.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218" y="4099305"/>
            <a:ext cx="13049964" cy="27265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218" y="4363522"/>
            <a:ext cx="52329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Functional Requirements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90218" y="4995624"/>
            <a:ext cx="13049964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TradeUp offers a robust set of features, enabling users to: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0218" y="5489377"/>
            <a:ext cx="355521" cy="355521"/>
          </a:xfrm>
          <a:prstGeom prst="roundRect">
            <a:avLst>
              <a:gd name="adj" fmla="val 257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9451" y="5519023"/>
            <a:ext cx="2370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303734" y="5543669"/>
            <a:ext cx="309122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Comprehensive Market View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03734" y="5885259"/>
            <a:ext cx="5912644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public stocks with candlestick charts, track favorites, and set stop-loss/take-profit orders.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13903" y="5489377"/>
            <a:ext cx="355521" cy="355521"/>
          </a:xfrm>
          <a:prstGeom prst="roundRect">
            <a:avLst>
              <a:gd name="adj" fmla="val 257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73136" y="5519023"/>
            <a:ext cx="2370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927419" y="5543669"/>
            <a:ext cx="451794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Dynamic Trading &amp; Portfolio Management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27419" y="5885259"/>
            <a:ext cx="5912763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Invest in stocks, monitor profit/loss, view portfolios, and access transaction history.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0218" y="6706791"/>
            <a:ext cx="355521" cy="355521"/>
          </a:xfrm>
          <a:prstGeom prst="roundRect">
            <a:avLst>
              <a:gd name="adj" fmla="val 257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9451" y="6736437"/>
            <a:ext cx="2370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303734" y="6761083"/>
            <a:ext cx="3522345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Personalized Learning &amp; Support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03734" y="7102673"/>
            <a:ext cx="5912644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Chat with an AI assistant, access trading tutorials, and receive performance analysis reports.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13903" y="6706791"/>
            <a:ext cx="355521" cy="355521"/>
          </a:xfrm>
          <a:prstGeom prst="roundRect">
            <a:avLst>
              <a:gd name="adj" fmla="val 257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73136" y="6736437"/>
            <a:ext cx="2370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927419" y="6761083"/>
            <a:ext cx="289071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Community &amp; Gamification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27419" y="7102673"/>
            <a:ext cx="5912763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See peer performance on leaderboards and receive notifications for trade executions or ranking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564475"/>
            <a:ext cx="166556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Beyond</a:t>
            </a: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7471" y="905828"/>
            <a:ext cx="6609755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Vision and Quality Assurance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7471" y="1655206"/>
            <a:ext cx="5533430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TradeUp Will Transform Learning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7471" y="2121456"/>
            <a:ext cx="5759172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TradeUp will revolutionize how individuals learn stock trading by providing a safe, dynamic, and interactive environment. Users will gain practical experience, build confidence, and receive personalized guidance, accelerating their journey from novice to proficient trader without financial risk.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2" y="3874293"/>
            <a:ext cx="3336846" cy="33368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09303" y="1655207"/>
            <a:ext cx="7111127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Non-Functional Requirements: Ensuring Excellence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09303" y="2471142"/>
            <a:ext cx="7111127" cy="3298984"/>
          </a:xfrm>
          <a:prstGeom prst="roundRect">
            <a:avLst>
              <a:gd name="adj" fmla="val 27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14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16923" y="2478762"/>
            <a:ext cx="7095887" cy="820936"/>
          </a:xfrm>
          <a:prstGeom prst="roundRect">
            <a:avLst>
              <a:gd name="adj" fmla="val 1114"/>
            </a:avLst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50154" y="2611993"/>
            <a:ext cx="166556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50154" y="2953345"/>
            <a:ext cx="682942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 memory usage (max 4GB), 99% uptime, rapid recovery (15 min).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16923" y="3299698"/>
            <a:ext cx="7095887" cy="820936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16923" y="3299698"/>
            <a:ext cx="7095887" cy="15240"/>
          </a:xfrm>
          <a:prstGeom prst="roundRect">
            <a:avLst>
              <a:gd name="adj" fmla="val 6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50154" y="3432929"/>
            <a:ext cx="166556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50154" y="3774281"/>
            <a:ext cx="682942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Adherence to Nielsen’s and Schneiderman’s design principles.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16923" y="4120634"/>
            <a:ext cx="7095887" cy="820936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16923" y="4120634"/>
            <a:ext cx="7095887" cy="15240"/>
          </a:xfrm>
          <a:prstGeom prst="roundRect">
            <a:avLst>
              <a:gd name="adj" fmla="val 6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50154" y="4253865"/>
            <a:ext cx="166556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50154" y="4595217"/>
            <a:ext cx="682942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Modular, clean code for quick updates (minor fixes in 48 hrs, major in 72 hrs).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16923" y="4941570"/>
            <a:ext cx="7095887" cy="820936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16923" y="4941570"/>
            <a:ext cx="7095887" cy="15240"/>
          </a:xfrm>
          <a:prstGeom prst="roundRect">
            <a:avLst>
              <a:gd name="adj" fmla="val 6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50154" y="5074801"/>
            <a:ext cx="166556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Freshness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50154" y="5416153"/>
            <a:ext cx="682942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stock data, daily leaderboard updates.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09303" y="5920026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Extensions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6809303" y="6386274"/>
            <a:ext cx="711112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After the initial project, we envision expanding TradeUp with: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09303" y="6772632"/>
            <a:ext cx="711112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A95B9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Pivot to Stock Brokerage.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Using the infrastructure we've built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09303" y="7085648"/>
            <a:ext cx="7111127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A95B9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Integration with Educational Providers: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Partnerships for certified trading courses.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518</Words>
  <Application>Microsoft Macintosh PowerPoint</Application>
  <PresentationFormat>Custom</PresentationFormat>
  <Paragraphs>68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Montserrat Black</vt:lpstr>
      <vt:lpstr>Arial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Mohammed Raiyaan Junaid Hamid</cp:lastModifiedBy>
  <cp:revision>3</cp:revision>
  <dcterms:created xsi:type="dcterms:W3CDTF">2025-09-12T07:58:59Z</dcterms:created>
  <dcterms:modified xsi:type="dcterms:W3CDTF">2025-09-12T08:12:52Z</dcterms:modified>
</cp:coreProperties>
</file>